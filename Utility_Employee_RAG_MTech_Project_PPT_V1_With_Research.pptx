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7" r:id="rId8"/>
    <p:sldId id="2147470491" r:id="rId9"/>
    <p:sldId id="214747048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4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Utility Employee RAG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/>
            </a:r>
            <a:r>
              <a:rPr lang="en-US" sz="5400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/>
            </a:r>
            <a:r>
              <a:rPr lang="en-US" sz="3600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/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Not specified in supplied materials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Utility employees need quick access to reliable technical and safety guidance.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This project indexes utility reference documents and retrieves relevant passages for employee questions.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Answers show source filenames and state when the indexed material does not contain the answer.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Employees can also create work checklists and track completion.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Build a searchable knowledge base from the supplied utility documents.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Retrieve relevant passages and generate concise, source-grounded answers.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Identify information gaps instead of filling them with unsupported claims.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Create ordered work checklists and let employees record step completion.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Provide administrators with employee activity and index refresh controls.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Document intake: PDF, DOCX, TXT and CSV files from the project data folders.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Retrieval: text extraction, chunking, local embeddings and FAISS similarity search.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Employee features: question answering, saved checklists and step tracking.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Administrator features: employee overview, account controls and background re-indexing.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The supplied materials do not report a measured accuracy or user-impact evaluation.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RAG research combines a language generator with retrieved external passages for knowledge-intensive tasks [1].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Sentence-BERT presents sentence embeddings that support efficient semantic similarity search [2].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Faiss provides vector indexing and similarity search; its paper discusses trade-offs in search quality, memory and time [3].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These studies describe general methods; they do not evaluate this utility employee application.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Project connection: retrieve relevant document chunks, then generate an answer from that context [1].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Local sentence embeddings and FAISS vector search align with the embedding and retrieval methods in [2] and [3].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The published results concern their own tasks and systems; they are not performance results for this project.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The supplied project materials report no answer-accuracy, latency or user-impact measurements.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Project index: 3,230 indexed text chunks from 22 source filenames.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[1] Lewis et al. (2020), NeurIPS 33, Retrieval-Augmented Generation; arXiv:2005.11401.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[2] Reimers &amp; Gurevych (2019), EMNLP-IJCNLP, Sentence-BERT; DOI: 10.18653/v1/D19-1410.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[3] Douze et al. (2024), The Faiss library; arXiv:2401.08281.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5583D1"/>
                </a:solidFill>
              </a:rPr>
              <a:t>Employee knowledge assistant: ask utility questions and receive answers grounded in retrieved passages.</a:t>
            </a:r>
            <a:r>
              <a:rPr lang="en-US" dirty="0">
                <a:solidFill>
                  <a:srgbClr val="5583D1"/>
                </a:solidFill>
                <a:latin typeface="+mn-lt"/>
              </a:rPr>
              <a:t/>
            </a:r>
            <a:r>
              <a:rPr lang="en-US" dirty="0" err="1">
                <a:solidFill>
                  <a:srgbClr val="5583D1"/>
                </a:solidFill>
                <a:latin typeface="+mn-lt"/>
              </a:rPr>
              <a:t/>
            </a:r>
            <a:r>
              <a:rPr lang="en-US" dirty="0">
                <a:solidFill>
                  <a:srgbClr val="5583D1"/>
                </a:solidFill>
                <a:latin typeface="+mn-lt"/>
              </a:rPr>
              <a:t/>
            </a:r>
            <a:r>
              <a:rPr lang="en-US" dirty="0">
                <a:solidFill>
                  <a:srgbClr val="5583D1"/>
                </a:solidFill>
              </a:rPr>
              <a:t/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5583D1"/>
                </a:solidFill>
              </a:rPr>
              <a:t>Source traceability: show filenames and report when retrieved information is insufficient.</a:t>
            </a:r>
            <a:r>
              <a:rPr lang="en-US" dirty="0">
                <a:solidFill>
                  <a:srgbClr val="5583D1"/>
                </a:solidFill>
                <a:latin typeface="+mn-lt"/>
              </a:rPr>
              <a:t/>
            </a:r>
            <a:r>
              <a:rPr lang="en-US" dirty="0" err="1">
                <a:solidFill>
                  <a:srgbClr val="5583D1"/>
                </a:solidFill>
                <a:latin typeface="+mn-lt"/>
              </a:rPr>
              <a:t/>
            </a:r>
            <a:r>
              <a:rPr lang="en-US" dirty="0">
                <a:solidFill>
                  <a:srgbClr val="5583D1"/>
                </a:solidFill>
                <a:latin typeface="+mn-lt"/>
              </a:rPr>
              <a:t/>
            </a:r>
            <a:r>
              <a:rPr lang="en-US" dirty="0">
                <a:solidFill>
                  <a:srgbClr val="5583D1"/>
                </a:solidFill>
              </a:rPr>
              <a:t/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5583D1"/>
                </a:solidFill>
              </a:rPr>
              <a:t>Work checklist: generate an ordered process with source references for each step.</a:t>
            </a:r>
            <a:r>
              <a:rPr lang="en-US" dirty="0">
                <a:solidFill>
                  <a:srgbClr val="5583D1"/>
                </a:solidFill>
                <a:latin typeface="+mn-lt"/>
              </a:rPr>
              <a:t/>
            </a:r>
            <a:r>
              <a:rPr lang="en-US" dirty="0" err="1">
                <a:solidFill>
                  <a:srgbClr val="5583D1"/>
                </a:solidFill>
                <a:latin typeface="+mn-lt"/>
              </a:rPr>
              <a:t/>
            </a:r>
            <a:r>
              <a:rPr lang="en-US" dirty="0">
                <a:solidFill>
                  <a:srgbClr val="5583D1"/>
                </a:solidFill>
                <a:latin typeface="+mn-lt"/>
              </a:rPr>
              <a:t/>
            </a:r>
            <a:r>
              <a:rPr lang="en-US" dirty="0">
                <a:solidFill>
                  <a:srgbClr val="5583D1"/>
                </a:solidFill>
              </a:rPr>
              <a:t/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5583D1"/>
                </a:solidFill>
              </a:rPr>
              <a:t>Progress tracking: save checklists and record completed steps.</a:t>
            </a:r>
            <a:r>
              <a:rPr lang="en-US" dirty="0">
                <a:solidFill>
                  <a:srgbClr val="5583D1"/>
                </a:solidFill>
                <a:latin typeface="+mn-lt"/>
              </a:rPr>
              <a:t/>
            </a:r>
            <a:r>
              <a:rPr lang="en-US" dirty="0" err="1">
                <a:solidFill>
                  <a:srgbClr val="5583D1"/>
                </a:solidFill>
                <a:latin typeface="+mn-lt"/>
              </a:rPr>
              <a:t/>
            </a:r>
            <a:r>
              <a:rPr lang="en-US" dirty="0">
                <a:solidFill>
                  <a:srgbClr val="5583D1"/>
                </a:solidFill>
                <a:latin typeface="+mn-lt"/>
              </a:rPr>
              <a:t/>
            </a:r>
            <a:r>
              <a:rPr lang="en-US" dirty="0">
                <a:solidFill>
                  <a:srgbClr val="5583D1"/>
                </a:solidFill>
              </a:rPr>
              <a:t/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5583D1"/>
                </a:solidFill>
              </a:rPr>
              <a:t>Administration: review employee activity and refresh the document index.</a:t>
            </a:r>
            <a:r>
              <a:rPr lang="en-US" dirty="0">
                <a:solidFill>
                  <a:srgbClr val="5583D1"/>
                </a:solidFill>
                <a:latin typeface="+mn-lt"/>
              </a:rPr>
              <a:t/>
            </a:r>
            <a:r>
              <a:rPr lang="en-US" dirty="0" err="1">
                <a:solidFill>
                  <a:srgbClr val="5583D1"/>
                </a:solidFill>
                <a:latin typeface="+mn-lt"/>
              </a:rPr>
              <a:t/>
            </a:r>
            <a:r>
              <a:rPr lang="en-US" dirty="0">
                <a:solidFill>
                  <a:srgbClr val="5583D1"/>
                </a:solidFill>
                <a:latin typeface="+mn-lt"/>
              </a:rPr>
              <a:t/>
            </a:r>
            <a:r>
              <a:rPr lang="en-US" dirty="0">
                <a:solidFill>
                  <a:srgbClr val="5583D1"/>
                </a:solidFill>
              </a:rPr>
              <a:t/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Subtopic: Knowledge Q&amp;A</a:t>
            </a:r>
          </a:p>
          <a:p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Retrieves 5 passages and generates a context-grounded answer with source filenames.</a:t>
            </a:r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/>
            </a:r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+mn-lt"/>
              </a:rPr>
              <a:t/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242424"/>
                </a:solidFill>
                <a:latin typeface="source-serif-pro"/>
              </a:rPr>
              <a:t>Checklist workflow: creates ordered, referenced work steps and stores employee completion progress.</a:t>
            </a:r>
            <a:endParaRPr lang="en-US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Employee Knowledge Assistant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/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Utility Employee RAG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171</Words>
  <Application>Microsoft Office PowerPoint</Application>
  <PresentationFormat>Widescreen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HARI PRASATH</cp:lastModifiedBy>
  <cp:revision>10</cp:revision>
  <dcterms:created xsi:type="dcterms:W3CDTF">2024-05-13T10:33:11Z</dcterms:created>
  <dcterms:modified xsi:type="dcterms:W3CDTF">2025-08-25T08:33:47Z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