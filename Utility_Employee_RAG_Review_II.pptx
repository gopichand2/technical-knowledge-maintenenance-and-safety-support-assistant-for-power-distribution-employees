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16279" y="5971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0603" y="2247226"/>
            <a:ext cx="11428184" cy="20826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bg1"/>
                </a:solidFill>
                <a:latin typeface="Calibri"/>
              </a:rPr>
              <a:t>Review II</a:t>
            </a:r>
          </a:p>
          <a:p>
            <a:pPr algn="ctr">
              <a:spcBef>
                <a:spcPts val="1200"/>
              </a:spcBef>
            </a:pPr>
            <a:r>
              <a:rPr sz="3600" b="0" dirty="0">
                <a:solidFill>
                  <a:schemeClr val="bg1"/>
                </a:solidFill>
                <a:latin typeface="Calibri"/>
              </a:rPr>
              <a:t>Utility Employee Knowledge Assistant using RAG</a:t>
            </a:r>
          </a:p>
          <a:p>
            <a:pPr algn="ctr">
              <a:spcBef>
                <a:spcPts val="2800"/>
              </a:spcBef>
            </a:pPr>
            <a:r>
              <a:rPr sz="2400" b="0" dirty="0">
                <a:solidFill>
                  <a:schemeClr val="bg1"/>
                </a:solidFill>
                <a:latin typeface="Calibri"/>
              </a:rPr>
              <a:t>Sammangi Gopi Chand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51A216-EF33-B076-AD24-699165930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761607"/>
              </p:ext>
            </p:extLst>
          </p:nvPr>
        </p:nvGraphicFramePr>
        <p:xfrm>
          <a:off x="-16279" y="5501243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FFF8021A-CDE7-31E2-F18F-2822B7093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7" y="5911587"/>
            <a:ext cx="2237827" cy="84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73152" tIns="27432" rIns="45720" bIns="27432"/>
          <a:lstStyle/>
          <a:p>
            <a:pPr marL="0" indent="0">
              <a:lnSpc>
                <a:spcPct val="88000"/>
              </a:lnSpc>
              <a:spcAft>
                <a:spcPts val="600"/>
              </a:spcAft>
              <a:buNone/>
            </a:pPr>
            <a:r>
              <a:rPr sz="2800">
                <a:latin typeface="Calibri"/>
              </a:rPr>
              <a:t>Power-distribution employees need fast access to technical, safety, maintenance and operational knowledge distributed across many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The project builds an employee-focused RAG assistant using an English utility knowledge base.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FAISS retrieves relevant document passages and the LLM generates answers grounded in the retrieved context.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The system also supports structured work-process worksheets and employee-specific progress checklists.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>
                <a:latin typeface="Calibri"/>
              </a:rPr>
              <a:t>Utility Employee Knowledge Assistant using RAG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73152" tIns="27432" rIns="45720" bIns="27432"/>
          <a:lstStyle/>
          <a:p>
            <a:pPr marL="0" indent="0">
              <a:lnSpc>
                <a:spcPct val="88000"/>
              </a:lnSpc>
              <a:spcAft>
                <a:spcPts val="600"/>
              </a:spcAft>
              <a:buNone/>
            </a:pPr>
            <a:r>
              <a:rPr sz="2800" dirty="0">
                <a:latin typeface="Calibri"/>
              </a:rPr>
              <a:t>Centralize utility knowledge and provide semantic question answering for </a:t>
            </a:r>
            <a:r>
              <a:rPr lang="en-US" dirty="0">
                <a:latin typeface="Calibri"/>
              </a:rPr>
              <a:t>distribution</a:t>
            </a:r>
            <a:r>
              <a:rPr sz="2800" dirty="0">
                <a:latin typeface="Calibri"/>
              </a:rPr>
              <a:t> employees.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 dirty="0">
                <a:latin typeface="Calibri"/>
              </a:rPr>
              <a:t>Retrieve relevant document content with FAISS and return grounded answers with supporting sources.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 dirty="0">
                <a:latin typeface="Calibri"/>
              </a:rPr>
              <a:t>Generate ordered work worksheets only when the retrieved documents support the procedure.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 dirty="0">
                <a:latin typeface="Calibri"/>
              </a:rPr>
              <a:t>Store each employee’s checklist completion in PostgreSQL so progress can be saved and resumed.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>
                <a:latin typeface="Calibri"/>
              </a:rPr>
              <a:t>Utility Employee Knowledge Assistant using RAG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3600">
                <a:latin typeface="Calibri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>
                <a:latin typeface="Calibri"/>
              </a:rPr>
              <a:t>Utility Employee Knowledge Assistant using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996" y="1234637"/>
            <a:ext cx="10624338" cy="4688335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lnSpc>
                <a:spcPct val="88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70C0"/>
                </a:solidFill>
                <a:latin typeface="Calibri"/>
                <a:cs typeface="Calibri" panose="020F0502020204030204" pitchFamily="34" charset="0"/>
              </a:rPr>
              <a:t>Authentication — employee registration, login, JWT-protected dashboard and PostgreSQL user data.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endParaRPr lang="en-US" sz="2800" b="1" dirty="0">
              <a:solidFill>
                <a:srgbClr val="0070C0"/>
              </a:solidFill>
              <a:latin typeface="Calibri"/>
              <a:cs typeface="Calibri" panose="020F0502020204030204" pitchFamily="34" charset="0"/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70C0"/>
                </a:solidFill>
                <a:latin typeface="Calibri"/>
                <a:cs typeface="Calibri" panose="020F0502020204030204" pitchFamily="34" charset="0"/>
              </a:rPr>
              <a:t>Knowledge &amp; FAISS — document loading, chunking, embeddings, metadata and semantic vector retrieval.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endParaRPr lang="en-US" sz="2800" b="1" dirty="0">
              <a:solidFill>
                <a:srgbClr val="0070C0"/>
              </a:solidFill>
              <a:latin typeface="Calibri"/>
              <a:cs typeface="Calibri" panose="020F0502020204030204" pitchFamily="34" charset="0"/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70C0"/>
                </a:solidFill>
                <a:latin typeface="Calibri"/>
                <a:cs typeface="Calibri" panose="020F0502020204030204" pitchFamily="34" charset="0"/>
              </a:rPr>
              <a:t>RAG &amp; Work Process — grounded answers plus structured worksheets when an applicable procedure is retrieved.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endParaRPr lang="en-US" sz="2800" b="1" dirty="0">
              <a:solidFill>
                <a:srgbClr val="0070C0"/>
              </a:solidFill>
              <a:latin typeface="Calibri"/>
              <a:cs typeface="Calibri" panose="020F0502020204030204" pitchFamily="34" charset="0"/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70C0"/>
                </a:solidFill>
                <a:latin typeface="Calibri"/>
                <a:cs typeface="Calibri" panose="020F0502020204030204" pitchFamily="34" charset="0"/>
              </a:rPr>
              <a:t>Progress Tracking — employee-specific checklist completion, save and resume using PostgreSQL.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0694" y="1191756"/>
            <a:ext cx="10624338" cy="3918966"/>
          </a:xfrm>
        </p:spPr>
        <p:txBody>
          <a:bodyPr wrap="square" lIns="73152" tIns="27432" rIns="45720" bIns="27432"/>
          <a:lstStyle/>
          <a:p>
            <a:pPr marL="0" indent="0">
              <a:lnSpc>
                <a:spcPct val="88000"/>
              </a:lnSpc>
              <a:spcAft>
                <a:spcPts val="600"/>
              </a:spcAft>
              <a:buNone/>
            </a:pPr>
            <a:r>
              <a:rPr sz="2800" dirty="0">
                <a:latin typeface="Calibri"/>
              </a:rPr>
              <a:t>Collect English utility references, safety documents, maintenance manuals and applicable equipment guides.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 dirty="0">
                <a:latin typeface="Calibri"/>
              </a:rPr>
              <a:t>Extract text, retain source/page metadata, and split content into overlapping chunks.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 dirty="0">
                <a:latin typeface="Calibri"/>
              </a:rPr>
              <a:t>Generate normalized all-MiniLM-L6-v2 embeddings and store them in FAISS </a:t>
            </a:r>
            <a:r>
              <a:rPr sz="2800" dirty="0" err="1">
                <a:latin typeface="Calibri"/>
              </a:rPr>
              <a:t>IndexFlatIP</a:t>
            </a:r>
            <a:r>
              <a:rPr sz="2800" dirty="0">
                <a:latin typeface="Calibri"/>
              </a:rPr>
              <a:t>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 dirty="0">
                <a:latin typeface="Calibri"/>
              </a:rPr>
              <a:t>Retrieve relevant chunks for each query; the LLM answers from context or returns </a:t>
            </a:r>
            <a:r>
              <a:rPr sz="2800" dirty="0" err="1">
                <a:latin typeface="Calibri"/>
              </a:rPr>
              <a:t>insufficient_information</a:t>
            </a:r>
            <a:r>
              <a:rPr sz="2800" dirty="0">
                <a:latin typeface="Calibri"/>
              </a:rPr>
              <a:t> when procedure evidence is incomplete.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 dirty="0">
                <a:latin typeface="Calibri"/>
              </a:rPr>
              <a:t>Persist users, work processes, work steps and employee progress in PostgreSQL.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3600">
                <a:latin typeface="Calibri"/>
              </a:rPr>
              <a:t>Methodology/Modeling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>
                <a:latin typeface="Calibri"/>
              </a:rPr>
              <a:t>Utility Employee Knowledge Assistant using RAG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73152" tIns="27432" rIns="45720" bIns="27432"/>
          <a:lstStyle/>
          <a:p>
            <a:pPr marL="0" indent="0">
              <a:lnSpc>
                <a:spcPct val="88000"/>
              </a:lnSpc>
              <a:spcAft>
                <a:spcPts val="600"/>
              </a:spcAft>
              <a:buNone/>
            </a:pPr>
            <a:r>
              <a:rPr sz="2800">
                <a:latin typeface="Calibri"/>
              </a:rPr>
              <a:t>Supported knowledge-base formats: PDF, DOCX, TXT and CSV.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PDF text is extracted page-wise; empty content is skipped and source/page metadata is retained.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Text is split into 300-word chunks with 50-word overlap before embedding.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Current FAISS index contains 2,260 vectors.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Retrieval is evaluated by inspecting returned source, page, similarity result and chunk content.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3600"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>
                <a:latin typeface="Calibri"/>
              </a:rPr>
              <a:t>Utility Employee Knowledge Assistant using RAG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73152" tIns="27432" rIns="45720" bIns="27432"/>
          <a:lstStyle/>
          <a:p>
            <a:pPr marL="0" indent="0">
              <a:lnSpc>
                <a:spcPct val="88000"/>
              </a:lnSpc>
              <a:spcAft>
                <a:spcPts val="600"/>
              </a:spcAft>
              <a:buNone/>
            </a:pPr>
            <a:r>
              <a:rPr sz="2800">
                <a:latin typeface="Calibri"/>
              </a:rPr>
              <a:t>Approach: Retrieval-Augmented Generation (RAG) with semantic document retrieval and grounded response generation.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Embeddings: sentence-transformers/all-MiniLM-L6-v2, 384 dimensions; vector search: FAISS IndexFlatIP.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Backend/UI: FastAPI, Jinja2, HTML, CSS and JavaScript.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Data &amp; security: PostgreSQL, SQLAlchemy, password hashing and JWT authentication.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Processing/LLM: PyPDF, python-docx, pandas and the current Gemini-based LLM service.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3600">
                <a:latin typeface="Calibri"/>
              </a:rPr>
              <a:t>Approach/Algorithms/Tools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>
                <a:latin typeface="Calibri"/>
              </a:rPr>
              <a:t>Utility Employee Knowledge Assistant using RAG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73152" tIns="27432" rIns="45720" bIns="27432"/>
          <a:lstStyle/>
          <a:p>
            <a:pPr marL="0" indent="0">
              <a:lnSpc>
                <a:spcPct val="88000"/>
              </a:lnSpc>
              <a:spcAft>
                <a:spcPts val="600"/>
              </a:spcAft>
              <a:buNone/>
            </a:pPr>
            <a:r>
              <a:rPr sz="2800">
                <a:latin typeface="Calibri"/>
              </a:rPr>
              <a:t>Completed: project setup, PostgreSQL connection, registration/login, JWT authentication and employee dashboard.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Completed: document loading, chunking, local embeddings, FAISS indexing and semantic retrieval.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Completed: RAG answer flow; current knowledge index contains 2,260 vectors.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In progress: work-process worksheet generation, source validation and Gemini 503 service-error handling.</a:t>
            </a:r>
          </a:p>
          <a:p>
            <a:pPr>
              <a:lnSpc>
                <a:spcPct val="88000"/>
              </a:lnSpc>
              <a:spcAft>
                <a:spcPts val="600"/>
              </a:spcAft>
            </a:pPr>
            <a:r>
              <a:rPr sz="2800">
                <a:latin typeface="Calibri"/>
              </a:rPr>
              <a:t>Next: progress APIs, checklist UI, approved external-source fallback and end-to-end testing.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3600">
                <a:latin typeface="Calibri"/>
              </a:rPr>
              <a:t>Project plan/milestones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>
                <a:latin typeface="Calibri"/>
              </a:rPr>
              <a:t>Utility Employee Knowledge Assistant using RAG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 algn="ctr">
              <a:lnSpc>
                <a:spcPct val="80000"/>
              </a:lnSpc>
              <a:spcAft>
                <a:spcPts val="100"/>
              </a:spcAft>
              <a:buNone/>
            </a:pPr>
            <a:r>
              <a:rPr sz="2000" dirty="0">
                <a:latin typeface="Calibri"/>
              </a:rPr>
              <a:t>English Utility Documents</a:t>
            </a:r>
            <a:endParaRPr lang="en-US" sz="2000" b="0" dirty="0">
              <a:solidFill>
                <a:srgbClr val="5583D1"/>
              </a:solidFill>
            </a:endParaRP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↓ 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 Extraction + Chunking + Source Metadata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lang="en-IN" sz="2000" dirty="0">
                <a:latin typeface="Calibri"/>
              </a:rPr>
              <a:t>↓</a:t>
            </a:r>
            <a:endParaRPr sz="2000" dirty="0">
              <a:latin typeface="Calibri"/>
            </a:endParaRP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Sentence-Transformer Embeddings → FAISS Index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↓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Employee Query → Query Embedding → Semantic Retrieval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↓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Retrieved Context + Sources → LLM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↓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Grounded Answer  OR  Work-Process Worksheet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↓</a:t>
            </a:r>
          </a:p>
          <a:p>
            <a:pPr algn="ctr">
              <a:lnSpc>
                <a:spcPct val="80000"/>
              </a:lnSpc>
              <a:spcAft>
                <a:spcPts val="100"/>
              </a:spcAft>
            </a:pPr>
            <a:r>
              <a:rPr sz="2000" dirty="0">
                <a:latin typeface="Calibri"/>
              </a:rPr>
              <a:t>Employee Checklist Progress → PostgreSQL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3600"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>
                <a:latin typeface="Calibri"/>
              </a:rPr>
              <a:t>Utility Employee Knowledge Assistant using RAG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621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Sammangi Gopi Chand</cp:lastModifiedBy>
  <cp:revision>19</cp:revision>
  <dcterms:created xsi:type="dcterms:W3CDTF">2024-05-13T10:33:11Z</dcterms:created>
  <dcterms:modified xsi:type="dcterms:W3CDTF">2026-09-29T05:07:40Z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